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45"/>
    <p:restoredTop sz="61544"/>
  </p:normalViewPr>
  <p:slideViewPr>
    <p:cSldViewPr snapToGrid="0">
      <p:cViewPr varScale="1">
        <p:scale>
          <a:sx n="71" d="100"/>
          <a:sy n="71" d="100"/>
        </p:scale>
        <p:origin x="1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nan, Reilly (CTR) - REE-ARS" userId="6befb571-4e06-4c7a-bd69-92307f1a439e" providerId="ADAL" clId="{5673FD08-86C6-5BA0-ABF1-A7E943AE2AB5}"/>
    <pc:docChg chg="custSel modSld">
      <pc:chgData name="Brennan, Reilly (CTR) - REE-ARS" userId="6befb571-4e06-4c7a-bd69-92307f1a439e" providerId="ADAL" clId="{5673FD08-86C6-5BA0-ABF1-A7E943AE2AB5}" dt="2026-10-23T17:55:13.477" v="5" actId="15"/>
      <pc:docMkLst>
        <pc:docMk/>
      </pc:docMkLst>
      <pc:sldChg chg="modSp mod">
        <pc:chgData name="Brennan, Reilly (CTR) - REE-ARS" userId="6befb571-4e06-4c7a-bd69-92307f1a439e" providerId="ADAL" clId="{5673FD08-86C6-5BA0-ABF1-A7E943AE2AB5}" dt="2026-10-23T17:54:24.887" v="0" actId="1076"/>
        <pc:sldMkLst>
          <pc:docMk/>
          <pc:sldMk cId="2696416001" sldId="256"/>
        </pc:sldMkLst>
        <pc:picChg chg="mod">
          <ac:chgData name="Brennan, Reilly (CTR) - REE-ARS" userId="6befb571-4e06-4c7a-bd69-92307f1a439e" providerId="ADAL" clId="{5673FD08-86C6-5BA0-ABF1-A7E943AE2AB5}" dt="2026-10-23T17:54:24.887" v="0" actId="1076"/>
          <ac:picMkLst>
            <pc:docMk/>
            <pc:sldMk cId="2696416001" sldId="256"/>
            <ac:picMk id="5" creationId="{FB017366-5D9C-0C13-3B4F-5C8898FE76FA}"/>
          </ac:picMkLst>
        </pc:picChg>
      </pc:sldChg>
      <pc:sldChg chg="delSp modSp mod">
        <pc:chgData name="Brennan, Reilly (CTR) - REE-ARS" userId="6befb571-4e06-4c7a-bd69-92307f1a439e" providerId="ADAL" clId="{5673FD08-86C6-5BA0-ABF1-A7E943AE2AB5}" dt="2026-10-23T17:54:58.504" v="2" actId="1076"/>
        <pc:sldMkLst>
          <pc:docMk/>
          <pc:sldMk cId="1663232129" sldId="263"/>
        </pc:sldMkLst>
        <pc:spChg chg="mod">
          <ac:chgData name="Brennan, Reilly (CTR) - REE-ARS" userId="6befb571-4e06-4c7a-bd69-92307f1a439e" providerId="ADAL" clId="{5673FD08-86C6-5BA0-ABF1-A7E943AE2AB5}" dt="2026-10-23T17:54:58.504" v="2" actId="1076"/>
          <ac:spMkLst>
            <pc:docMk/>
            <pc:sldMk cId="1663232129" sldId="263"/>
            <ac:spMk id="2" creationId="{47338BE6-69DC-A063-FD50-8B288EF74649}"/>
          </ac:spMkLst>
        </pc:spChg>
        <pc:spChg chg="del">
          <ac:chgData name="Brennan, Reilly (CTR) - REE-ARS" userId="6befb571-4e06-4c7a-bd69-92307f1a439e" providerId="ADAL" clId="{5673FD08-86C6-5BA0-ABF1-A7E943AE2AB5}" dt="2026-10-23T17:54:55.305" v="1" actId="478"/>
          <ac:spMkLst>
            <pc:docMk/>
            <pc:sldMk cId="1663232129" sldId="263"/>
            <ac:spMk id="3" creationId="{7FD2E015-963A-B8CB-3143-AB3F8AD69F07}"/>
          </ac:spMkLst>
        </pc:spChg>
      </pc:sldChg>
      <pc:sldChg chg="modNotesTx">
        <pc:chgData name="Brennan, Reilly (CTR) - REE-ARS" userId="6befb571-4e06-4c7a-bd69-92307f1a439e" providerId="ADAL" clId="{5673FD08-86C6-5BA0-ABF1-A7E943AE2AB5}" dt="2026-10-23T17:55:13.477" v="5" actId="15"/>
        <pc:sldMkLst>
          <pc:docMk/>
          <pc:sldMk cId="2251475855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426D0-8CC1-144A-8700-EEBCED87D9F6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DCC60-F6C5-B240-83A8-A73EFFA5A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5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resources/cheatsheets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atacarpentry.org/R-ecology-lesson/" TargetMode="External"/><Relationship Id="rId4" Type="http://schemas.openxmlformats.org/officeDocument/2006/relationships/hyperlink" Target="https://r4ds.hadley.nz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37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 grew out of the S language from Bell Labs and was first written by Ross Ihaka and Robert Gentleman at the University of Auckland in the early 1990s. Today it is maintained by the R Core Team and a large community of contributors.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few things make R different from point-and-click software such as Excel, SPSS, or JMP: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type instructions instead of clicking.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feels slower on day one and is much faster by week three, because instructions can be saved, repeated, and shared.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free and open source.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Anyone can install it, read its code, and extend it.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built by and for data analysts.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Statistical methods often appear in R first, written by the people who developed them.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reproducible.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script is a complete record of every step from raw data to final figure. Six months from now, you (or a reviewer) can rerun it and get the same answer.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8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79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is NOT good for: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Entering data in the field or lab.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a spreadsheet, a paper datasheet, or a form app, then bring the data into R.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Processing raw sequencing reads or thousands of images.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Dedicated command-line tools usually do the heavy lifting; R is great for analyzing their output.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One-off arithmetic.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calculator is fine. R pays off when a task will be repeated, checked, or shared.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75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RStudio (made by the company Posit) has four main panes: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(top left): scripts and R Markdown files.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code here.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(bottom left): where code actually runs. You can type directly here for quick checks, but nothing typed here is saved.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 / History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(top right): the objects (data, values) currently in memory.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 / Plots / Packages / Help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(bottom right): browse folders, view plots, and read documentation.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5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Markdown (.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lets you mix formatted text with code chunks. When you knit, R runs every chunk in order and weaves the results (numbers, tables, figures) into a report. A chunk looks like this: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also put R inside a sentence. For example, typing `r sum(c(14, 3, 0, 22))` in the text produces the number 39 when knitted. Because numbers in the text are calculated from the data, they update automatically if the data change. Quarto (.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qmd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 newer system that works almost the same way; everything in this module applies to it.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89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install R you get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language plus a core set of functions (mean(),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plot() and many more).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bundle of extra functions, data, and documentation that someone wrote to solve a particular problem.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base R as a basic field kit. Packages are specialized add-on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more than 20,000 packages on CRAN (the main R repository) and more than 2,000 on Bioconductor (focused on genomics and molecular biology).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99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 in RStudio Projects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use relative file paths.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 edit raw data by hand.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Every change lives in code.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Restart R often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 → Restart 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rerun your script from the top. If it only works in your current session, it doesn’t work.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Don’t save the workspace.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 → Global Options → General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uncheck “Restore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workspace at startup” and set “Save workspace to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exit” to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Your scripts, not a saved workspace, should recreate your results.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 the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# exclude S04 on 2025-06-03: drag cloth torn is useful; # filter data is not.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set.seed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anything random (simulations, resampling) so results repeat exactly.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 your software versions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sessionInfo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(see the end of this document).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 version control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(Git + GitHub) once you’re comfortable. It’s “track changes” for code.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17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71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sz="3600" b="1" dirty="0"/>
              <a:t>Built-in help:</a:t>
            </a:r>
            <a:r>
              <a:rPr lang="en-US" sz="3600" dirty="0"/>
              <a:t> </a:t>
            </a:r>
            <a:r>
              <a:rPr lang="en-US" dirty="0"/>
              <a:t>?</a:t>
            </a:r>
            <a:r>
              <a:rPr lang="en-US" dirty="0" err="1"/>
              <a:t>function_name</a:t>
            </a:r>
            <a:r>
              <a:rPr lang="en-US" sz="3600" dirty="0"/>
              <a:t>, </a:t>
            </a:r>
            <a:r>
              <a:rPr lang="en-US" dirty="0"/>
              <a:t>??"search term"</a:t>
            </a:r>
            <a:r>
              <a:rPr lang="en-US" sz="3600" dirty="0"/>
              <a:t>, and package vignettes (</a:t>
            </a:r>
            <a:r>
              <a:rPr lang="en-US" dirty="0" err="1"/>
              <a:t>browseVignettes</a:t>
            </a:r>
            <a:r>
              <a:rPr lang="en-US" dirty="0"/>
              <a:t>("</a:t>
            </a:r>
            <a:r>
              <a:rPr lang="en-US" dirty="0" err="1"/>
              <a:t>dplyr</a:t>
            </a:r>
            <a:r>
              <a:rPr lang="en-US" dirty="0"/>
              <a:t>")</a:t>
            </a:r>
            <a:r>
              <a:rPr lang="en-US" sz="3600" dirty="0"/>
              <a:t>).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b="1" dirty="0"/>
              <a:t>Read the error message</a:t>
            </a:r>
            <a:r>
              <a:rPr lang="en-US" dirty="0"/>
              <a:t>, then search for it, in quotes, online.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b="1" dirty="0"/>
              <a:t>Ask well:</a:t>
            </a:r>
            <a:r>
              <a:rPr lang="en-US" dirty="0"/>
              <a:t> a </a:t>
            </a:r>
            <a:r>
              <a:rPr lang="en-US" i="1" dirty="0"/>
              <a:t>minimal reproducible example</a:t>
            </a:r>
            <a:r>
              <a:rPr lang="en-US" dirty="0"/>
              <a:t> (a few lines of code and a tiny dataset that show the problem) gets answers fast. The </a:t>
            </a:r>
            <a:r>
              <a:rPr lang="en-US" sz="2000" dirty="0" err="1"/>
              <a:t>reprex</a:t>
            </a:r>
            <a:r>
              <a:rPr lang="en-US" dirty="0"/>
              <a:t> package helps.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b="1" dirty="0"/>
              <a:t>Cheat sheets:</a:t>
            </a:r>
            <a:r>
              <a:rPr lang="en-US" dirty="0"/>
              <a:t> Posit publishes one-page guides for </a:t>
            </a:r>
            <a:r>
              <a:rPr lang="en-US" sz="2000" dirty="0" err="1"/>
              <a:t>dplyr</a:t>
            </a:r>
            <a:r>
              <a:rPr lang="en-US" dirty="0"/>
              <a:t>, </a:t>
            </a:r>
            <a:r>
              <a:rPr lang="en-US" sz="2000" dirty="0"/>
              <a:t>ggplot2</a:t>
            </a:r>
            <a:r>
              <a:rPr lang="en-US" dirty="0"/>
              <a:t>, </a:t>
            </a:r>
            <a:r>
              <a:rPr lang="en-US" sz="2000" dirty="0" err="1"/>
              <a:t>tidyr</a:t>
            </a:r>
            <a:r>
              <a:rPr lang="en-US" dirty="0"/>
              <a:t>, R Markdown, and more (</a:t>
            </a:r>
            <a:r>
              <a:rPr lang="en-US" dirty="0">
                <a:hlinkClick r:id="rId3"/>
              </a:rPr>
              <a:t>https://posit.co/resources/cheatsheets/</a:t>
            </a:r>
            <a:r>
              <a:rPr lang="en-US" dirty="0"/>
              <a:t>).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b="1" dirty="0"/>
              <a:t>Free books and </a:t>
            </a:r>
            <a:r>
              <a:rPr lang="en-US" b="1"/>
              <a:t>lessons:</a:t>
            </a:r>
            <a:endParaRPr lang="en-US" b="1" i="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i="1"/>
              <a:t>R </a:t>
            </a:r>
            <a:r>
              <a:rPr lang="en-US" i="1" dirty="0"/>
              <a:t>for Data Science</a:t>
            </a:r>
            <a:r>
              <a:rPr lang="en-US" dirty="0"/>
              <a:t>, 2nd ed. (</a:t>
            </a:r>
            <a:r>
              <a:rPr lang="en-US" dirty="0">
                <a:hlinkClick r:id="rId4"/>
              </a:rPr>
              <a:t>https://r4ds.hadley.nz</a:t>
            </a:r>
            <a:r>
              <a:rPr lang="en-US" dirty="0"/>
              <a:t>)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Data Carpentry, </a:t>
            </a:r>
            <a:r>
              <a:rPr lang="en-US" i="1" dirty="0"/>
              <a:t>Data Analysis and Visualization in R for Ecologists</a:t>
            </a:r>
            <a:r>
              <a:rPr lang="en-US" dirty="0"/>
              <a:t> (</a:t>
            </a:r>
            <a:r>
              <a:rPr lang="en-US" dirty="0">
                <a:hlinkClick r:id="rId5"/>
              </a:rPr>
              <a:t>https://datacarpentry.org/R-ecology-lesson/</a:t>
            </a:r>
            <a:r>
              <a:rPr lang="en-US" dirty="0"/>
              <a:t>)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b="1" dirty="0"/>
              <a:t>AI assistants</a:t>
            </a:r>
            <a:r>
              <a:rPr lang="en-US" dirty="0"/>
              <a:t> can explain error messages and draft code. Treat what they give you like code from a </a:t>
            </a:r>
            <a:r>
              <a:rPr lang="en-US" dirty="0" err="1"/>
              <a:t>labmate</a:t>
            </a:r>
            <a:r>
              <a:rPr lang="en-US" dirty="0"/>
              <a:t>: run it, read it, and check the results.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DCC60-F6C5-B240-83A8-A73EFFA5A9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70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E8970-95BB-838B-9B6C-7D131AC48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E132F-7850-A16A-2E1B-3E7B93C7A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450F3-33E8-1C49-397D-5C1B6DBE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8B1F3-920E-918F-7EC9-5AF297F8A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21876-75D1-8CDF-60DC-9BB8868E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0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9376-F6D1-93B9-CABA-3B5056A91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93E1-A6DD-662B-9621-5EC4A7D56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3DE0B-07C1-5A3F-CD84-7A2265CE2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F4DEC-2452-898A-AC0E-586B110C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4B69E-5E00-75F8-6109-3972C6F7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1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4337-3708-F250-0964-815D75BF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0E189-8A3B-A907-FB2A-647EEECEE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74CE-37DB-CB3C-3F5A-DE1D01A1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0A3E1-A974-A492-A61B-8348840F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98C29-ED02-13F8-2344-73673AA6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5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7225-132E-5BA7-3EE8-DC015926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C2583-BEC4-024E-1510-DD60615EE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0B7F5-4E83-7587-03BF-1DF3011AA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2E349-51D9-6DFF-32A4-384BBD7A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5AF24-C386-2893-3355-F696E8C3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B0C59-C093-27F8-6BBF-737DEDC85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70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7800-8FCD-E894-0DEC-2E467B3E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E9D3E-A525-7275-2E15-E1F7BF6C4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CB8DB-78A5-C3C5-522B-B2A14BBD9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521FE-CC7C-6202-7A56-0F059E39A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58F9C0-2E88-982B-8B26-09C15516F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C820F3-49BF-E84D-6521-4795FD95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378F7-914A-4789-2C1A-9044FB55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81EA0-EF0E-A9BE-F756-2D137611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00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488D-3464-387A-7D12-DF36ADCD1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11F20-A39F-E368-FE4F-39115FA4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A9A25-BDE6-32C2-E52B-6421ACDD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784F9-BA70-F22B-E717-50EC4643D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9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4EA6C-0CEC-6433-703A-6EA9F3C7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B2B738-687D-8C4F-264E-544F9B3C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69B56-EFB2-B4B4-8C9E-C4CD7F297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6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1218-CF25-5C5D-DFCF-002850DF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E093-B00D-FA63-27A6-9C720E9B7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81209-A09A-A2A5-010C-0B3D8300F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BAB14-C8CA-6BBB-12EA-173A375E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11C3A-B324-9BDB-3727-9FB4D6BCA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06B68-8536-1CB5-8504-66876B57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1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8697-6438-DB58-955C-DCF1BE8D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9A840-0F81-FDBF-A2CD-E03AD0C1BE7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E8E5B-464F-0182-FD94-68466A1F1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07F7F-49F5-6A5D-6531-22ED749B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A4295-3625-42ED-8782-0B50A02F8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24C34-6192-6717-E325-7C09D464F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6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6425-F40C-3401-7151-DF319F8D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EE2AB-B9ED-BAE5-80C1-2FB360F80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4F64D-9846-3D1E-EC72-970C3F728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58993-8402-69DC-F9FF-EAFA7A0F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0D3FE-CBE8-C94D-69B2-9EB45C4A0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4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930F9-51F8-A311-E9F5-D3C80FECD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AED29-116D-B904-E7BC-A18F45EDC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8AACA-0406-5EBE-CBD4-838408C4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BE0DC-4C22-9A9C-159F-80B4491E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E4576-AB24-083D-42AE-AF4357F9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7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5017AA-66F3-103D-2B03-1463DC3B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7126D-BE1A-EC95-0A7A-1C0BF9C47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EF260-E72B-3DA3-0F71-2B2F1E430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4C0C3-E2AE-9644-A7DA-82B35DE4EF89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AEE64-17D1-EB47-A924-99D1B0D59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427B3-D07B-CC98-0771-40ADB5AD0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A4123-DD28-F146-8247-A5E151503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6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resources/cheatsheet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carpentry.org/R-ecology-lesson/" TargetMode="External"/><Relationship Id="rId4" Type="http://schemas.openxmlformats.org/officeDocument/2006/relationships/hyperlink" Target="https://r4ds.hadley.nz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r4ds.hadley.nz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086B-E20A-4BB7-CE3A-60E0B0CEB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203" y="1041400"/>
            <a:ext cx="9144000" cy="2387600"/>
          </a:xfrm>
        </p:spPr>
        <p:txBody>
          <a:bodyPr/>
          <a:lstStyle/>
          <a:p>
            <a:pPr algn="l"/>
            <a:r>
              <a:rPr lang="en-US" b="1" dirty="0"/>
              <a:t>Intro to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2951BE-8794-8ED2-773A-AF614A7EAD60}"/>
              </a:ext>
            </a:extLst>
          </p:cNvPr>
          <p:cNvSpPr txBox="1"/>
          <p:nvPr/>
        </p:nvSpPr>
        <p:spPr>
          <a:xfrm>
            <a:off x="261583" y="5401101"/>
            <a:ext cx="9886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Kansas State University, Department of Entomology</a:t>
            </a:r>
          </a:p>
          <a:p>
            <a:r>
              <a:rPr lang="en-US" sz="2400" dirty="0"/>
              <a:t>Instructors: Reilly Brennan (</a:t>
            </a:r>
            <a:r>
              <a:rPr lang="en-US" sz="2400" dirty="0" err="1"/>
              <a:t>reilly.brennan@usda.gov</a:t>
            </a:r>
            <a:r>
              <a:rPr lang="en-US" sz="2400" dirty="0"/>
              <a:t>), Tania Kim (</a:t>
            </a:r>
            <a:r>
              <a:rPr lang="en-US" sz="2400" dirty="0" err="1"/>
              <a:t>tkim@ksu.edu</a:t>
            </a:r>
            <a:r>
              <a:rPr lang="en-US" sz="2400" dirty="0"/>
              <a:t>), Brian Spiesman (</a:t>
            </a:r>
            <a:r>
              <a:rPr lang="en-US" sz="2400" dirty="0" err="1"/>
              <a:t>bspiesman@ksu.edu</a:t>
            </a:r>
            <a:r>
              <a:rPr lang="en-US" sz="24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17366-5D9C-0C13-3B4F-5C8898FE7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0" y="2171700"/>
            <a:ext cx="16129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1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A7020-877D-7D4A-CBA4-91918CAE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7623E-43B6-388A-D97A-4882ECEA5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 is a programming language and software environment for statistics, data analysis, and graphics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You type instructions instead of clicking</a:t>
            </a:r>
          </a:p>
          <a:p>
            <a:pPr lvl="0"/>
            <a:r>
              <a:rPr lang="en-US" dirty="0"/>
              <a:t>It is free and open source</a:t>
            </a:r>
          </a:p>
          <a:p>
            <a:pPr lvl="0"/>
            <a:r>
              <a:rPr lang="en-US" dirty="0"/>
              <a:t>It is built by and for data analysts</a:t>
            </a:r>
          </a:p>
          <a:p>
            <a:pPr lvl="0"/>
            <a:r>
              <a:rPr lang="en-US" dirty="0"/>
              <a:t>It is reproducible</a:t>
            </a:r>
          </a:p>
        </p:txBody>
      </p:sp>
    </p:spTree>
    <p:extLst>
      <p:ext uri="{BB962C8B-B14F-4D97-AF65-F5344CB8AC3E}">
        <p14:creationId xmlns:p14="http://schemas.microsoft.com/office/powerpoint/2010/main" val="236473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DE065-B60B-0493-EC96-BE5FA423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39445"/>
            <a:ext cx="10515600" cy="1325563"/>
          </a:xfrm>
        </p:spPr>
        <p:txBody>
          <a:bodyPr/>
          <a:lstStyle/>
          <a:p>
            <a:r>
              <a:rPr lang="en-US" b="1" dirty="0"/>
              <a:t>R versus RStudio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CFBEA-7DBA-EFE8-0A24-8840A8FBDC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518145"/>
              </p:ext>
            </p:extLst>
          </p:nvPr>
        </p:nvGraphicFramePr>
        <p:xfrm>
          <a:off x="419100" y="1965008"/>
          <a:ext cx="11353800" cy="4013784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299460">
                  <a:extLst>
                    <a:ext uri="{9D8B030D-6E8A-4147-A177-3AD203B41FA5}">
                      <a16:colId xmlns:a16="http://schemas.microsoft.com/office/drawing/2014/main" val="2820420940"/>
                    </a:ext>
                  </a:extLst>
                </a:gridCol>
                <a:gridCol w="4269740">
                  <a:extLst>
                    <a:ext uri="{9D8B030D-6E8A-4147-A177-3AD203B41FA5}">
                      <a16:colId xmlns:a16="http://schemas.microsoft.com/office/drawing/2014/main" val="1603487693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3272533406"/>
                    </a:ext>
                  </a:extLst>
                </a:gridCol>
              </a:tblGrid>
              <a:tr h="639340">
                <a:tc>
                  <a:txBody>
                    <a:bodyPr/>
                    <a:lstStyle/>
                    <a:p>
                      <a:pPr algn="ctr" fontAlgn="b">
                        <a:spcAft>
                          <a:spcPts val="1575"/>
                        </a:spcAft>
                        <a:buNone/>
                      </a:pPr>
                      <a:endParaRPr lang="en-US" sz="2800" b="0" i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n-US" sz="2800" b="0" i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RStudio</a:t>
                      </a:r>
                      <a:endParaRPr lang="en-US" sz="2800" b="0" i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278387646"/>
                  </a:ext>
                </a:extLst>
              </a:tr>
              <a:tr h="1050344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What it is</a:t>
                      </a:r>
                      <a:endParaRPr lang="en-US" sz="2800" b="0" i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The language and the engine that runs calculations</a:t>
                      </a:r>
                      <a:endParaRPr lang="en-US" sz="2800" b="0" i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An editor (an “IDE”) that makes working with R easier</a:t>
                      </a:r>
                      <a:endParaRPr lang="en-US" sz="2800" b="0" i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570297776"/>
                  </a:ext>
                </a:extLst>
              </a:tr>
              <a:tr h="1050344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Analogy</a:t>
                      </a:r>
                      <a:endParaRPr lang="en-US" sz="2800" b="0" i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The engine of a truck</a:t>
                      </a:r>
                      <a:endParaRPr lang="en-US" sz="2800" b="0" i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The dashboard, steering wheel, mirrors</a:t>
                      </a:r>
                      <a:endParaRPr lang="en-US" sz="2800" b="0" i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99985775"/>
                  </a:ext>
                </a:extLst>
              </a:tr>
              <a:tr h="639340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Can you use it alone?</a:t>
                      </a:r>
                      <a:endParaRPr lang="en-US" sz="2800" b="0" i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Yes, but it is bare-bones</a:t>
                      </a:r>
                      <a:endParaRPr lang="en-US" sz="2800" b="0" i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No, it needs R installed underneath</a:t>
                      </a:r>
                      <a:endParaRPr lang="en-US" sz="2800" b="0" i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389341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62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83375-5838-632B-4578-19783DFC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49" y="2675731"/>
            <a:ext cx="1917658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R good for?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E9657A-A3B5-2F54-C05D-7E040BC173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094013"/>
              </p:ext>
            </p:extLst>
          </p:nvPr>
        </p:nvGraphicFramePr>
        <p:xfrm>
          <a:off x="1928553" y="0"/>
          <a:ext cx="10224654" cy="67714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7042">
                  <a:extLst>
                    <a:ext uri="{9D8B030D-6E8A-4147-A177-3AD203B41FA5}">
                      <a16:colId xmlns:a16="http://schemas.microsoft.com/office/drawing/2014/main" val="2406152718"/>
                    </a:ext>
                  </a:extLst>
                </a:gridCol>
                <a:gridCol w="5897163">
                  <a:extLst>
                    <a:ext uri="{9D8B030D-6E8A-4147-A177-3AD203B41FA5}">
                      <a16:colId xmlns:a16="http://schemas.microsoft.com/office/drawing/2014/main" val="4283542148"/>
                    </a:ext>
                  </a:extLst>
                </a:gridCol>
                <a:gridCol w="2380449">
                  <a:extLst>
                    <a:ext uri="{9D8B030D-6E8A-4147-A177-3AD203B41FA5}">
                      <a16:colId xmlns:a16="http://schemas.microsoft.com/office/drawing/2014/main" val="39156264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b">
                        <a:spcAft>
                          <a:spcPts val="1575"/>
                        </a:spcAft>
                        <a:buNone/>
                      </a:pPr>
                      <a:r>
                        <a:rPr lang="en-US" sz="1800" b="1" dirty="0">
                          <a:effectLst/>
                        </a:rPr>
                        <a:t>Task</a:t>
                      </a:r>
                      <a:endParaRPr lang="en-US" sz="1800" b="1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 anchor="b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1575"/>
                        </a:spcAft>
                        <a:buNone/>
                      </a:pPr>
                      <a:r>
                        <a:rPr lang="en-US" sz="1800" b="1" dirty="0">
                          <a:effectLst/>
                        </a:rPr>
                        <a:t>Entomology example</a:t>
                      </a:r>
                      <a:endParaRPr lang="en-US" sz="1800" b="1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 anchor="b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1575"/>
                        </a:spcAft>
                        <a:buNone/>
                      </a:pPr>
                      <a:r>
                        <a:rPr lang="en-US" sz="1800" b="1" dirty="0">
                          <a:effectLst/>
                        </a:rPr>
                        <a:t>packages</a:t>
                      </a:r>
                      <a:endParaRPr lang="en-US" sz="1800" b="1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 anchor="b"/>
                </a:tc>
                <a:extLst>
                  <a:ext uri="{0D108BD9-81ED-4DB2-BD59-A6C34878D82A}">
                    <a16:rowId xmlns:a16="http://schemas.microsoft.com/office/drawing/2014/main" val="2159835119"/>
                  </a:ext>
                </a:extLst>
              </a:tr>
              <a:tr h="618373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Cleaning and managing data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Combining weekly trap sheets from 20 sites into one dataset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dplyr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tidyr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readr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>
                          <a:effectLst/>
                        </a:rPr>
                        <a:t>janitor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lubridate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1131826146"/>
                  </a:ext>
                </a:extLst>
              </a:tr>
              <a:tr h="480250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Graphics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Seasonal phenology curves of tick life stages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ggplot2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757989395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Count-data statistics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Do light-trap catches differ by habitat?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base </a:t>
                      </a:r>
                      <a:r>
                        <a:rPr lang="en-US" sz="1600" dirty="0" err="1">
                          <a:effectLst/>
                        </a:rPr>
                        <a:t>glm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>
                          <a:effectLst/>
                        </a:rPr>
                        <a:t>MASS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glmmTMB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>
                          <a:effectLst/>
                        </a:rPr>
                        <a:t>lme4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4160609968"/>
                  </a:ext>
                </a:extLst>
              </a:tr>
              <a:tr h="618373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Dose–response bioassays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Estimating LC</a:t>
                      </a:r>
                      <a:r>
                        <a:rPr lang="en-US" sz="1200" baseline="-25000" dirty="0">
                          <a:effectLst/>
                        </a:rPr>
                        <a:t>50</a:t>
                      </a:r>
                      <a:r>
                        <a:rPr lang="en-US" sz="1800" dirty="0">
                          <a:effectLst/>
                        </a:rPr>
                        <a:t> for a pyrethroid against Aedes aegypti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drc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2903326466"/>
                  </a:ext>
                </a:extLst>
              </a:tr>
              <a:tr h="480250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Survival analysis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Adult longevity under different temperatures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survival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2577866136"/>
                  </a:ext>
                </a:extLst>
              </a:tr>
              <a:tr h="618373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Community ecology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Diversity and ordination of pitfall-trap beetle communities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vegan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iNEXT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69848436"/>
                  </a:ext>
                </a:extLst>
              </a:tr>
              <a:tr h="379070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Phenology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Predicting emergence from temperature records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base R, </a:t>
                      </a:r>
                      <a:r>
                        <a:rPr lang="en-US" sz="1600" dirty="0" err="1">
                          <a:effectLst/>
                        </a:rPr>
                        <a:t>chillR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1159901247"/>
                  </a:ext>
                </a:extLst>
              </a:tr>
              <a:tr h="618373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Spatial data and maps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Mapping collection sites; species distribution models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sf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>
                          <a:effectLst/>
                        </a:rPr>
                        <a:t>terra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2586557455"/>
                  </a:ext>
                </a:extLst>
              </a:tr>
              <a:tr h="618373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Biodiversity databases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Downloading occurrence records for a vector species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rgbif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2779386647"/>
                  </a:ext>
                </a:extLst>
              </a:tr>
              <a:tr h="618373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Molecular data phylogenetics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Reading barcode sequences; plotting a tree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Biostrings</a:t>
                      </a:r>
                      <a:r>
                        <a:rPr lang="en-US" sz="1800" dirty="0">
                          <a:effectLst/>
                        </a:rPr>
                        <a:t> (Bioconductor), </a:t>
                      </a:r>
                      <a:r>
                        <a:rPr lang="en-US" sz="1600" dirty="0">
                          <a:effectLst/>
                        </a:rPr>
                        <a:t>ape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3653041145"/>
                  </a:ext>
                </a:extLst>
              </a:tr>
              <a:tr h="618373"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Reproducible reports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This document</a:t>
                      </a:r>
                      <a:endParaRPr lang="en-US" sz="1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tc>
                  <a:txBody>
                    <a:bodyPr/>
                    <a:lstStyle/>
                    <a:p>
                      <a:pPr algn="ctr" fontAlgn="t">
                        <a:spcAft>
                          <a:spcPts val="1575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rmarkdown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knitr</a:t>
                      </a:r>
                      <a:r>
                        <a:rPr lang="en-US" sz="1800" dirty="0">
                          <a:effectLst/>
                        </a:rPr>
                        <a:t>, Quarto</a:t>
                      </a:r>
                      <a:endParaRPr lang="en-US" sz="1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2311" marR="42311" marT="42311" marB="42311"/>
                </a:tc>
                <a:extLst>
                  <a:ext uri="{0D108BD9-81ED-4DB2-BD59-A6C34878D82A}">
                    <a16:rowId xmlns:a16="http://schemas.microsoft.com/office/drawing/2014/main" val="1305513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63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339BC4-DCDD-7B34-9043-2778250A1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11187" y="0"/>
            <a:ext cx="9520664" cy="63446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B4941C-A3B5-7BE0-5C0F-C8336973CE28}"/>
              </a:ext>
            </a:extLst>
          </p:cNvPr>
          <p:cNvSpPr txBox="1"/>
          <p:nvPr/>
        </p:nvSpPr>
        <p:spPr>
          <a:xfrm>
            <a:off x="0" y="2387491"/>
            <a:ext cx="23419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err="1"/>
              <a:t>Rstudio</a:t>
            </a:r>
            <a:br>
              <a:rPr lang="en-US" sz="4800" b="1" dirty="0"/>
            </a:br>
            <a:r>
              <a:rPr lang="en-US" sz="4800" b="1" dirty="0"/>
              <a:t>layout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089A5-6280-38CE-B614-29F85152A93E}"/>
              </a:ext>
            </a:extLst>
          </p:cNvPr>
          <p:cNvSpPr txBox="1"/>
          <p:nvPr/>
        </p:nvSpPr>
        <p:spPr>
          <a:xfrm>
            <a:off x="3919593" y="1600199"/>
            <a:ext cx="1905009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dirty="0"/>
              <a:t>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E9FA8B-929E-D1D5-70AC-5183B2F64086}"/>
              </a:ext>
            </a:extLst>
          </p:cNvPr>
          <p:cNvSpPr txBox="1"/>
          <p:nvPr/>
        </p:nvSpPr>
        <p:spPr>
          <a:xfrm>
            <a:off x="3485509" y="5257801"/>
            <a:ext cx="2226892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dirty="0"/>
              <a:t>Console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B7EF3-B960-FBA3-5103-E44BB44A0D20}"/>
              </a:ext>
            </a:extLst>
          </p:cNvPr>
          <p:cNvSpPr txBox="1"/>
          <p:nvPr/>
        </p:nvSpPr>
        <p:spPr>
          <a:xfrm>
            <a:off x="8030637" y="1600198"/>
            <a:ext cx="3271217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dirty="0"/>
              <a:t>Environment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710FC-AD88-F4A4-F411-2DBA9D289AEA}"/>
              </a:ext>
            </a:extLst>
          </p:cNvPr>
          <p:cNvSpPr txBox="1"/>
          <p:nvPr/>
        </p:nvSpPr>
        <p:spPr>
          <a:xfrm>
            <a:off x="8030637" y="5257801"/>
            <a:ext cx="4083620" cy="144655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/>
              <a:t>Files/plots/packages/help</a:t>
            </a:r>
          </a:p>
        </p:txBody>
      </p:sp>
    </p:spTree>
    <p:extLst>
      <p:ext uri="{BB962C8B-B14F-4D97-AF65-F5344CB8AC3E}">
        <p14:creationId xmlns:p14="http://schemas.microsoft.com/office/powerpoint/2010/main" val="4181999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F456C-D9B4-F35B-BD0B-21C242E0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66" y="217573"/>
            <a:ext cx="10515600" cy="1325563"/>
          </a:xfrm>
        </p:spPr>
        <p:txBody>
          <a:bodyPr/>
          <a:lstStyle/>
          <a:p>
            <a:r>
              <a:rPr lang="en-US" b="1" dirty="0"/>
              <a:t>What is R Markdown?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6F9C0-DD13-4026-2808-687F97027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66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 Markdown (.</a:t>
            </a:r>
            <a:r>
              <a:rPr lang="en-US" dirty="0" err="1"/>
              <a:t>Rmd</a:t>
            </a:r>
            <a:r>
              <a:rPr lang="en-US" dirty="0"/>
              <a:t>) lets you mix formatted text with code chunks.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977FE-528B-9E97-16DA-B89828387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154" y="1943920"/>
            <a:ext cx="5806515" cy="4351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45EB25-35A5-4596-EF69-D4A831915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66" y="1888431"/>
            <a:ext cx="5961888" cy="44623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D74AE4-F5B2-1A87-5401-E58BAE836AD5}"/>
              </a:ext>
            </a:extLst>
          </p:cNvPr>
          <p:cNvSpPr txBox="1"/>
          <p:nvPr/>
        </p:nvSpPr>
        <p:spPr>
          <a:xfrm>
            <a:off x="1542153" y="5859642"/>
            <a:ext cx="3095912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dirty="0" err="1"/>
              <a:t>Rmarkdown</a:t>
            </a:r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6A095-4912-AFF3-7FE6-D976344C013E}"/>
              </a:ext>
            </a:extLst>
          </p:cNvPr>
          <p:cNvSpPr txBox="1"/>
          <p:nvPr/>
        </p:nvSpPr>
        <p:spPr>
          <a:xfrm>
            <a:off x="8197145" y="5859641"/>
            <a:ext cx="2034531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dirty="0"/>
              <a:t>R script</a:t>
            </a:r>
          </a:p>
        </p:txBody>
      </p:sp>
    </p:spTree>
    <p:extLst>
      <p:ext uri="{BB962C8B-B14F-4D97-AF65-F5344CB8AC3E}">
        <p14:creationId xmlns:p14="http://schemas.microsoft.com/office/powerpoint/2010/main" val="89925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5DEE-B06C-86C4-98F8-98A05331F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61365"/>
            <a:ext cx="10515600" cy="1325563"/>
          </a:xfrm>
        </p:spPr>
        <p:txBody>
          <a:bodyPr/>
          <a:lstStyle/>
          <a:p>
            <a:r>
              <a:rPr lang="en-US" b="1" dirty="0"/>
              <a:t>What is a package?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6AB1E9-AB6C-342E-A10F-D5C0AEB444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284049"/>
              </p:ext>
            </p:extLst>
          </p:nvPr>
        </p:nvGraphicFramePr>
        <p:xfrm>
          <a:off x="205739" y="1486928"/>
          <a:ext cx="11780520" cy="28563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698692189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4131075387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3133775123"/>
                    </a:ext>
                  </a:extLst>
                </a:gridCol>
                <a:gridCol w="3459480">
                  <a:extLst>
                    <a:ext uri="{9D8B030D-6E8A-4147-A177-3AD203B41FA5}">
                      <a16:colId xmlns:a16="http://schemas.microsoft.com/office/drawing/2014/main" val="1603787760"/>
                    </a:ext>
                  </a:extLst>
                </a:gridCol>
              </a:tblGrid>
              <a:tr h="532278">
                <a:tc>
                  <a:txBody>
                    <a:bodyPr/>
                    <a:lstStyle/>
                    <a:p>
                      <a:pPr algn="l" fontAlgn="b">
                        <a:spcAft>
                          <a:spcPts val="1575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Step</a:t>
                      </a:r>
                      <a:endParaRPr lang="en-US" sz="2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b"/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75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Function</a:t>
                      </a:r>
                      <a:endParaRPr lang="en-US" sz="2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b"/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75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How often</a:t>
                      </a:r>
                      <a:endParaRPr lang="en-US" sz="2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b"/>
                </a:tc>
                <a:tc>
                  <a:txBody>
                    <a:bodyPr/>
                    <a:lstStyle/>
                    <a:p>
                      <a:pPr algn="l" fontAlgn="b">
                        <a:spcAft>
                          <a:spcPts val="1575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Analogy</a:t>
                      </a:r>
                      <a:endParaRPr lang="en-US" sz="2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 anchor="b"/>
                </a:tc>
                <a:extLst>
                  <a:ext uri="{0D108BD9-81ED-4DB2-BD59-A6C34878D82A}">
                    <a16:rowId xmlns:a16="http://schemas.microsoft.com/office/drawing/2014/main" val="2600848511"/>
                  </a:ext>
                </a:extLst>
              </a:tr>
              <a:tr h="1343368">
                <a:tc>
                  <a:txBody>
                    <a:bodyPr/>
                    <a:lstStyle/>
                    <a:p>
                      <a:pPr algn="l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Install</a:t>
                      </a:r>
                      <a:endParaRPr lang="en-US" sz="2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install.packages("vegan")</a:t>
                      </a:r>
                      <a:endParaRPr lang="en-US" sz="2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Once per computer (and after updating R)</a:t>
                      </a:r>
                      <a:endParaRPr lang="en-US" sz="2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>
                          <a:effectLst/>
                        </a:rPr>
                        <a:t>Buying a book and putting it on your shelf</a:t>
                      </a:r>
                      <a:endParaRPr lang="en-US" sz="2800" b="0" i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100693111"/>
                  </a:ext>
                </a:extLst>
              </a:tr>
              <a:tr h="937823">
                <a:tc>
                  <a:txBody>
                    <a:bodyPr/>
                    <a:lstStyle/>
                    <a:p>
                      <a:pPr algn="l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Load</a:t>
                      </a:r>
                      <a:endParaRPr lang="en-US" sz="2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library(vegan)</a:t>
                      </a:r>
                      <a:endParaRPr lang="en-US" sz="2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Every time you start R</a:t>
                      </a:r>
                      <a:endParaRPr lang="en-US" sz="2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75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Taking the book off the shelf to read it</a:t>
                      </a:r>
                      <a:endParaRPr lang="en-US" sz="2800" b="0" i="0" dirty="0">
                        <a:solidFill>
                          <a:srgbClr val="2C3E50"/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830243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7FDED61-9963-4D60-0BAD-6DF763736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361" y="4430262"/>
            <a:ext cx="9887275" cy="188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7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8BE6-69DC-A063-FD50-8B288EF7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R Practice Time</a:t>
            </a:r>
          </a:p>
        </p:txBody>
      </p:sp>
    </p:spTree>
    <p:extLst>
      <p:ext uri="{BB962C8B-B14F-4D97-AF65-F5344CB8AC3E}">
        <p14:creationId xmlns:p14="http://schemas.microsoft.com/office/powerpoint/2010/main" val="1663232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8A0E-8E28-B1C6-2EE1-44709A85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Good habits and getting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2DC67-E712-6CAF-B3EA-DFE7A98CE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576"/>
            <a:ext cx="9112624" cy="53054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Work in RStudio Projects and use relative file paths.</a:t>
            </a:r>
          </a:p>
          <a:p>
            <a:pPr lvl="0"/>
            <a:r>
              <a:rPr lang="en-US" dirty="0"/>
              <a:t>Never edit raw data by hand</a:t>
            </a:r>
          </a:p>
          <a:p>
            <a:pPr lvl="0"/>
            <a:r>
              <a:rPr lang="en-US" dirty="0"/>
              <a:t>Restart R often (</a:t>
            </a:r>
            <a:r>
              <a:rPr lang="en-US" i="1" dirty="0"/>
              <a:t>Session &gt; Restart R</a:t>
            </a:r>
            <a:r>
              <a:rPr lang="en-US" dirty="0"/>
              <a:t>) and rerun your script  </a:t>
            </a:r>
          </a:p>
          <a:p>
            <a:pPr lvl="0"/>
            <a:r>
              <a:rPr lang="en-US" dirty="0"/>
              <a:t>Don’t save the workspace</a:t>
            </a:r>
          </a:p>
          <a:p>
            <a:pPr lvl="0"/>
            <a:r>
              <a:rPr lang="en-US" dirty="0"/>
              <a:t>Comment </a:t>
            </a:r>
            <a:r>
              <a:rPr lang="en-US" i="1" dirty="0"/>
              <a:t>why in code chunks</a:t>
            </a:r>
            <a:endParaRPr lang="en-US" dirty="0"/>
          </a:p>
          <a:p>
            <a:pPr lvl="0"/>
            <a:r>
              <a:rPr lang="en-US" dirty="0"/>
              <a:t>Use </a:t>
            </a:r>
            <a:r>
              <a:rPr lang="en-US" dirty="0" err="1"/>
              <a:t>set.seed</a:t>
            </a:r>
            <a:r>
              <a:rPr lang="en-US" dirty="0"/>
              <a:t>() before anything random (simulations, resampling) so results repeat exactly</a:t>
            </a:r>
          </a:p>
          <a:p>
            <a:pPr lvl="0"/>
            <a:r>
              <a:rPr lang="en-US" dirty="0"/>
              <a:t>Record your software versions with </a:t>
            </a:r>
            <a:r>
              <a:rPr lang="en-US" dirty="0" err="1"/>
              <a:t>sessionInfo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0043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B294D-9539-E88D-E95C-6F1EA829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to get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DAD15-12FA-3EB9-2802-ED8D49C15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dirty="0"/>
              <a:t>Built-in help</a:t>
            </a:r>
          </a:p>
          <a:p>
            <a:r>
              <a:rPr lang="en-US" sz="2400" dirty="0"/>
              <a:t>Read the error message, then search for it, in quotes, online.</a:t>
            </a:r>
          </a:p>
          <a:p>
            <a:r>
              <a:rPr lang="en-US" sz="2400" dirty="0"/>
              <a:t>Ask well: a </a:t>
            </a:r>
            <a:r>
              <a:rPr lang="en-US" sz="2400" i="1" dirty="0"/>
              <a:t>minimal reproducible example</a:t>
            </a:r>
            <a:r>
              <a:rPr lang="en-US" sz="2400" dirty="0"/>
              <a:t> (a few lines of code and a tiny dataset that show the problem) gets answers fast. </a:t>
            </a:r>
          </a:p>
          <a:p>
            <a:r>
              <a:rPr lang="en-US" sz="2400" dirty="0"/>
              <a:t>Cheat sheets: Posit publishes one-page guides for </a:t>
            </a:r>
            <a:r>
              <a:rPr lang="en-US" sz="2400" dirty="0" err="1"/>
              <a:t>dplyr</a:t>
            </a:r>
            <a:r>
              <a:rPr lang="en-US" sz="2400" dirty="0"/>
              <a:t>, ggplot2, </a:t>
            </a:r>
            <a:r>
              <a:rPr lang="en-US" sz="2400" dirty="0" err="1"/>
              <a:t>tidyr</a:t>
            </a:r>
            <a:r>
              <a:rPr lang="en-US" sz="2400" dirty="0"/>
              <a:t>, R Markdown, and more (</a:t>
            </a:r>
            <a:r>
              <a:rPr lang="en-US" sz="2400" dirty="0">
                <a:hlinkClick r:id="rId3"/>
              </a:rPr>
              <a:t>https://posit.co/resources/cheatsheets/</a:t>
            </a:r>
            <a:r>
              <a:rPr lang="en-US" sz="2400" dirty="0"/>
              <a:t>).</a:t>
            </a:r>
          </a:p>
          <a:p>
            <a:r>
              <a:rPr lang="en-US" sz="2400" dirty="0"/>
              <a:t>Free books and lessons:</a:t>
            </a:r>
          </a:p>
          <a:p>
            <a:pPr lvl="1"/>
            <a:r>
              <a:rPr lang="en-US" i="1" dirty="0"/>
              <a:t>R for Data Science</a:t>
            </a:r>
            <a:r>
              <a:rPr lang="en-US" dirty="0"/>
              <a:t>, 2nd ed. (</a:t>
            </a:r>
            <a:r>
              <a:rPr lang="en-US" dirty="0">
                <a:hlinkClick r:id="rId4"/>
              </a:rPr>
              <a:t>https://r4ds.hadley.nz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Data Carpentry, </a:t>
            </a:r>
            <a:r>
              <a:rPr lang="en-US" i="1" dirty="0"/>
              <a:t>Data Analysis and Visualization in R for Ecologists</a:t>
            </a:r>
            <a:r>
              <a:rPr lang="en-US" dirty="0"/>
              <a:t> (</a:t>
            </a:r>
            <a:r>
              <a:rPr lang="en-US" dirty="0">
                <a:hlinkClick r:id="rId5"/>
              </a:rPr>
              <a:t>https://datacarpentry.org/R-ecology-lesson/</a:t>
            </a:r>
            <a:r>
              <a:rPr lang="en-US" dirty="0"/>
              <a:t>)</a:t>
            </a:r>
          </a:p>
          <a:p>
            <a:r>
              <a:rPr lang="en-US" sz="2400" dirty="0"/>
              <a:t>AI assistants</a:t>
            </a:r>
          </a:p>
        </p:txBody>
      </p:sp>
    </p:spTree>
    <p:extLst>
      <p:ext uri="{BB962C8B-B14F-4D97-AF65-F5344CB8AC3E}">
        <p14:creationId xmlns:p14="http://schemas.microsoft.com/office/powerpoint/2010/main" val="2251475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3AD89-A5B8-3CD5-70A9-9B580B0E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9BE7-12E7-239A-AAE2-3AB3BB3EA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Abbott, W. S. (1925). A method of computing the effectiveness of an insecticide. </a:t>
            </a:r>
            <a:r>
              <a:rPr lang="en-US" i="1" dirty="0"/>
              <a:t>Journal of Economic Entomology</a:t>
            </a:r>
            <a:r>
              <a:rPr lang="en-US" dirty="0"/>
              <a:t>, 18, 265–267.</a:t>
            </a:r>
          </a:p>
          <a:p>
            <a:r>
              <a:rPr lang="en-US" dirty="0"/>
              <a:t>Broman, K. W., &amp; Woo, K. H. (2018). Data organization in spreadsheets. </a:t>
            </a:r>
            <a:r>
              <a:rPr lang="en-US" i="1" dirty="0"/>
              <a:t>The American Statistician</a:t>
            </a:r>
            <a:r>
              <a:rPr lang="en-US" dirty="0"/>
              <a:t>, 72(1), 2–10.</a:t>
            </a:r>
          </a:p>
          <a:p>
            <a:r>
              <a:rPr lang="en-US" dirty="0"/>
              <a:t>Wickham, H. (2014). Tidy data. </a:t>
            </a:r>
            <a:r>
              <a:rPr lang="en-US" i="1" dirty="0"/>
              <a:t>Journal of Statistical Software</a:t>
            </a:r>
            <a:r>
              <a:rPr lang="en-US" dirty="0"/>
              <a:t>, 59(10), 1–23.</a:t>
            </a:r>
          </a:p>
          <a:p>
            <a:r>
              <a:rPr lang="en-US" dirty="0"/>
              <a:t>Wickham, H., Çetinkaya-Rundel, M., &amp; Grolemund, G. (2023). </a:t>
            </a:r>
            <a:r>
              <a:rPr lang="en-US" i="1" dirty="0"/>
              <a:t>R for Data Science</a:t>
            </a:r>
            <a:r>
              <a:rPr lang="en-US" dirty="0"/>
              <a:t> (2nd ed.). O’Reilly. </a:t>
            </a:r>
            <a:r>
              <a:rPr lang="en-US" dirty="0">
                <a:hlinkClick r:id="rId2"/>
              </a:rPr>
              <a:t>https://r4ds.hadley.nz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1620</Words>
  <Application>Microsoft Macintosh PowerPoint</Application>
  <PresentationFormat>Widescreen</PresentationFormat>
  <Paragraphs>157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Lato</vt:lpstr>
      <vt:lpstr>Office Theme</vt:lpstr>
      <vt:lpstr>Intro to </vt:lpstr>
      <vt:lpstr>What is R?</vt:lpstr>
      <vt:lpstr>R versus RStudio</vt:lpstr>
      <vt:lpstr>What is R good for?</vt:lpstr>
      <vt:lpstr>PowerPoint Presentation</vt:lpstr>
      <vt:lpstr>What is R Markdown?</vt:lpstr>
      <vt:lpstr>What is a package?</vt:lpstr>
      <vt:lpstr>R Practice Time</vt:lpstr>
      <vt:lpstr>Good habits and getting help</vt:lpstr>
      <vt:lpstr>Where to get help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Brennan, Reilly</dc:creator>
  <cp:lastModifiedBy>Brennan, Reilly (CTR) - REE-ARS</cp:lastModifiedBy>
  <cp:revision>4</cp:revision>
  <dcterms:created xsi:type="dcterms:W3CDTF">2026-10-14T15:15:16Z</dcterms:created>
  <dcterms:modified xsi:type="dcterms:W3CDTF">2026-10-23T17:55:16Z</dcterms:modified>
</cp:coreProperties>
</file>